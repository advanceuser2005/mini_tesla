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63"/>
    <p:restoredTop sz="94610"/>
  </p:normalViewPr>
  <p:slideViewPr>
    <p:cSldViewPr snapToGrid="0" snapToObjects="1">
      <p:cViewPr varScale="1">
        <p:scale>
          <a:sx n="248" d="100"/>
          <a:sy n="248" d="100"/>
        </p:scale>
        <p:origin x="3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0351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949440" y="4404140"/>
            <a:ext cx="2194560" cy="822960"/>
          </a:xfrm>
          <a:prstGeom prst="rect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138160" y="4056668"/>
            <a:ext cx="1005840" cy="347472"/>
          </a:xfrm>
          <a:prstGeom prst="rect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8321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our own in house </a:t>
            </a:r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Tesla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457200" y="2526030"/>
            <a:ext cx="384048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692908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1C7293">
              <a:alpha val="60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26929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Mecannum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Drive Train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2692908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1C7293">
              <a:alpha val="60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14600" y="26929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Autonomous Stack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2692908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1C7293">
              <a:alpha val="60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0" y="26929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Energy Generation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461772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Tesla|  Project Proposal</a:t>
            </a:r>
            <a:endParaRPr lang="en-US" sz="10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097388" y="1207008"/>
            <a:ext cx="1280160" cy="1280160"/>
          </a:xfrm>
          <a:prstGeom prst="rect">
            <a:avLst/>
          </a:prstGeom>
        </p:spPr>
      </p:pic>
      <p:sp>
        <p:nvSpPr>
          <p:cNvPr id="18" name="Shape 10">
            <a:extLst>
              <a:ext uri="{FF2B5EF4-FFF2-40B4-BE49-F238E27FC236}">
                <a16:creationId xmlns:a16="http://schemas.microsoft.com/office/drawing/2014/main" id="{58073C7F-EDB2-C74B-B16C-BE97262B2BA1}"/>
              </a:ext>
            </a:extLst>
          </p:cNvPr>
          <p:cNvSpPr/>
          <p:nvPr/>
        </p:nvSpPr>
        <p:spPr>
          <a:xfrm>
            <a:off x="6629400" y="2692908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1C7293">
              <a:alpha val="60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F7CF4F4F-7F29-DA89-DB4F-28480D17D1CB}"/>
              </a:ext>
            </a:extLst>
          </p:cNvPr>
          <p:cNvSpPr/>
          <p:nvPr/>
        </p:nvSpPr>
        <p:spPr>
          <a:xfrm>
            <a:off x="6629400" y="26929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Sensor Fusion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873252"/>
            <a:ext cx="4114800" cy="5991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12648" y="1522733"/>
            <a:ext cx="3566159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/>
              <a:t>An autonomous omnidirectional robot platform built on four </a:t>
            </a:r>
            <a:r>
              <a:rPr lang="en-US" sz="1050" dirty="0" err="1"/>
              <a:t>mecanum</a:t>
            </a:r>
            <a:r>
              <a:rPr lang="en-US" sz="1050" dirty="0"/>
              <a:t> wheels, capable of moving in any direction without rotating. It features an adaptive gear transmission that shifts between speed and torque modes to handle inclines, paired with custom-built shock absorbers and hydraulic brakes for real-world terrain. The brain is an NVIDIA Jetson Orin running a full ROS 2 autonomy stack with AI-based object detection, person following, and SLAM navigation. A digital twin in NVIDIA Isaac Sim mirrors the real robot for safe hardware-in-the-loop testing before any code hits the physical platform.</a:t>
            </a:r>
          </a:p>
        </p:txBody>
      </p:sp>
      <p:sp>
        <p:nvSpPr>
          <p:cNvPr id="8" name="Shape 6"/>
          <p:cNvSpPr/>
          <p:nvPr/>
        </p:nvSpPr>
        <p:spPr>
          <a:xfrm>
            <a:off x="316547" y="1528075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0041" y="3314957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2649" y="3250949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regenerative energy recovery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extended battery life.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1" y="3973325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2649" y="3909317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AI-based perception: object detection &amp; human following.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0" y="822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00600" y="1298448"/>
            <a:ext cx="1188720" cy="411480"/>
          </a:xfrm>
          <a:prstGeom prst="rect">
            <a:avLst/>
          </a:prstGeom>
          <a:solidFill>
            <a:srgbClr val="1C7293"/>
          </a:solidFill>
          <a:ln w="1524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00600" y="1298448"/>
            <a:ext cx="11887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</a:t>
            </a:r>
            <a:endParaRPr lang="en-US" sz="105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Scan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1828800"/>
            <a:ext cx="1188720" cy="411480"/>
          </a:xfrm>
          <a:prstGeom prst="rect">
            <a:avLst/>
          </a:prstGeom>
          <a:solidFill>
            <a:srgbClr val="1C7293"/>
          </a:solidFill>
          <a:ln w="1524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0600" y="1828800"/>
            <a:ext cx="11887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RealSense</a:t>
            </a:r>
            <a:endParaRPr lang="en-US" sz="105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RGB-D Camera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2359152"/>
            <a:ext cx="1188720" cy="411480"/>
          </a:xfrm>
          <a:prstGeom prst="rect">
            <a:avLst/>
          </a:prstGeom>
          <a:solidFill>
            <a:srgbClr val="1C7293"/>
          </a:solidFill>
          <a:ln w="1524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00600" y="2359152"/>
            <a:ext cx="11887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</a:t>
            </a:r>
            <a:endParaRPr lang="en-US" sz="105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89320" y="1508760"/>
            <a:ext cx="2286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989320" y="2039112"/>
            <a:ext cx="2286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989320" y="2569464"/>
            <a:ext cx="2286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217920" y="1298448"/>
            <a:ext cx="1508760" cy="1463040"/>
          </a:xfrm>
          <a:prstGeom prst="rect">
            <a:avLst/>
          </a:prstGeom>
          <a:solidFill>
            <a:srgbClr val="0D1B2A"/>
          </a:solidFill>
          <a:ln w="1524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17920" y="1298448"/>
            <a:ext cx="150876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Jetson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Orin</a:t>
            </a:r>
            <a:endParaRPr lang="en-US" sz="105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| AI | Nav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976872" y="2761488"/>
            <a:ext cx="0" cy="27432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217920" y="3035808"/>
            <a:ext cx="1508760" cy="457200"/>
          </a:xfrm>
          <a:prstGeom prst="rect">
            <a:avLst/>
          </a:prstGeom>
          <a:solidFill>
            <a:srgbClr val="213A5E"/>
          </a:solidFill>
          <a:ln w="1524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217920" y="3035808"/>
            <a:ext cx="15087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Teensy 4.1</a:t>
            </a:r>
            <a:endParaRPr lang="en-US" sz="105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Control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976872" y="3493008"/>
            <a:ext cx="0" cy="237744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965193" y="3767328"/>
            <a:ext cx="4003832" cy="438912"/>
          </a:xfrm>
          <a:prstGeom prst="rect">
            <a:avLst/>
          </a:prstGeom>
          <a:solidFill>
            <a:srgbClr val="02C39A"/>
          </a:solidFill>
          <a:ln w="1524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99945" y="3767328"/>
            <a:ext cx="40690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</a:t>
            </a:r>
            <a:r>
              <a:rPr lang="en-US" sz="105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Mecanum</a:t>
            </a: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Wheels + Motor Drivers + Gear Box + Hydraulic Breaks 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818120" y="1691640"/>
            <a:ext cx="822960" cy="822960"/>
          </a:xfrm>
          <a:prstGeom prst="rect">
            <a:avLst/>
          </a:prstGeom>
          <a:solidFill>
            <a:srgbClr val="28547A"/>
          </a:solidFill>
          <a:ln w="1524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818120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5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726680" y="2029968"/>
            <a:ext cx="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726680" y="2029968"/>
            <a:ext cx="914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498080" y="18745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2651760" cy="1691640"/>
          </a:xfrm>
          <a:prstGeom prst="rect">
            <a:avLst/>
          </a:prstGeom>
          <a:solidFill>
            <a:srgbClr val="11223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26517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84632" y="914400"/>
            <a:ext cx="475488" cy="47548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950976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33272" y="896112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Omnidirectional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48056" y="1499616"/>
            <a:ext cx="239572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4-wheel mecanum drive for forward, lateral, diagonal &amp; rotational motion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136392" y="749808"/>
            <a:ext cx="2651760" cy="1691640"/>
          </a:xfrm>
          <a:prstGeom prst="rect">
            <a:avLst/>
          </a:prstGeom>
          <a:solidFill>
            <a:srgbClr val="11223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136392" y="749808"/>
            <a:ext cx="26517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300984" y="914400"/>
            <a:ext cx="475488" cy="47548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950976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49624" y="896112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Perception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3264408" y="1499616"/>
            <a:ext cx="239572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5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SLAM mapping, global path planning and local obstacle avoidance with object detection + person following via reinforcement learning on Jetson</a:t>
            </a:r>
            <a:br>
              <a:rPr lang="en-US" sz="95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952744" y="749808"/>
            <a:ext cx="2651760" cy="1691640"/>
          </a:xfrm>
          <a:prstGeom prst="rect">
            <a:avLst/>
          </a:prstGeom>
          <a:solidFill>
            <a:srgbClr val="11223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5952744" y="749808"/>
            <a:ext cx="26517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117336" y="914400"/>
            <a:ext cx="475488" cy="47548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912" y="950976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65976" y="896112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Drivetrain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080760" y="1499616"/>
            <a:ext cx="239572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Multi-ratio gear shifting for flat terrain speed vs incline torque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320040" y="2606040"/>
            <a:ext cx="2651760" cy="1691640"/>
          </a:xfrm>
          <a:prstGeom prst="rect">
            <a:avLst/>
          </a:prstGeom>
          <a:solidFill>
            <a:srgbClr val="11223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320040" y="2606040"/>
            <a:ext cx="26517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484632" y="2770632"/>
            <a:ext cx="475488" cy="47548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" y="2807208"/>
            <a:ext cx="402336" cy="40233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33272" y="2752344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Regeneration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48056" y="3355848"/>
            <a:ext cx="239572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Free-wheel mode with regenerative braking to recharge onboard battery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3136392" y="2606040"/>
            <a:ext cx="2651760" cy="1691640"/>
          </a:xfrm>
          <a:prstGeom prst="rect">
            <a:avLst/>
          </a:prstGeom>
          <a:solidFill>
            <a:srgbClr val="11223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3136392" y="2606040"/>
            <a:ext cx="26517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3300984" y="2770632"/>
            <a:ext cx="475488" cy="47548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2807208"/>
            <a:ext cx="402336" cy="40233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849624" y="2752344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AEB - Autonomous Emergency Braking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3264408" y="3355848"/>
            <a:ext cx="239572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SLAM mapping, global path planning and local obstacle avoidance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5952744" y="2606040"/>
            <a:ext cx="2651760" cy="1691640"/>
          </a:xfrm>
          <a:prstGeom prst="rect">
            <a:avLst/>
          </a:prstGeom>
          <a:solidFill>
            <a:srgbClr val="11223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5952744" y="2606040"/>
            <a:ext cx="26517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0"/>
          <p:cNvSpPr/>
          <p:nvPr/>
        </p:nvSpPr>
        <p:spPr>
          <a:xfrm>
            <a:off x="6117336" y="2770632"/>
            <a:ext cx="475488" cy="47548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3912" y="2807208"/>
            <a:ext cx="402336" cy="402336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665976" y="2752344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(Isaac Sim)</a:t>
            </a:r>
            <a:endParaRPr lang="en-US" sz="1150" dirty="0"/>
          </a:p>
        </p:txBody>
      </p:sp>
      <p:sp>
        <p:nvSpPr>
          <p:cNvPr id="40" name="Text 32"/>
          <p:cNvSpPr/>
          <p:nvPr/>
        </p:nvSpPr>
        <p:spPr>
          <a:xfrm>
            <a:off x="6080760" y="3355848"/>
            <a:ext cx="239572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simulation environment for hardware-in-the-loop testing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VALUE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on this project develops expertise across five high-demand engineering disciplines: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28600" y="1207008"/>
            <a:ext cx="1600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1207008"/>
            <a:ext cx="16002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54380" y="1353312"/>
            <a:ext cx="548640" cy="5486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408176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83464" y="2011680"/>
            <a:ext cx="1490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Systems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20040" y="2596896"/>
            <a:ext cx="1417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control with Teensy 4.1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motor driving &amp; encoder feedback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control loop implementation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/ serial communication protocols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</p:txBody>
      </p:sp>
      <p:sp>
        <p:nvSpPr>
          <p:cNvPr id="12" name="Shape 9"/>
          <p:cNvSpPr/>
          <p:nvPr/>
        </p:nvSpPr>
        <p:spPr>
          <a:xfrm>
            <a:off x="1993392" y="1207008"/>
            <a:ext cx="1600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993392" y="1207008"/>
            <a:ext cx="16002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519172" y="1353312"/>
            <a:ext cx="548640" cy="5486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4892" y="1408176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048256" y="2011680"/>
            <a:ext cx="1490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Design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2084832" y="2596896"/>
            <a:ext cx="1417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Mecanum drivetrain kinematics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Planetary gearbox integration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Servo-actuated gear selector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Regenerative energy circuit design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</p:txBody>
      </p:sp>
      <p:sp>
        <p:nvSpPr>
          <p:cNvPr id="18" name="Shape 14"/>
          <p:cNvSpPr/>
          <p:nvPr/>
        </p:nvSpPr>
        <p:spPr>
          <a:xfrm>
            <a:off x="3758184" y="1207008"/>
            <a:ext cx="1600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3758184" y="1207008"/>
            <a:ext cx="16002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4283964" y="1353312"/>
            <a:ext cx="548640" cy="5486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9684" y="1408176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813048" y="2011680"/>
            <a:ext cx="1490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Software (ROS 2)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3849624" y="2596896"/>
            <a:ext cx="1417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Node-based modular architecture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SLAM mapping &amp; localization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Nav2 autonomous navigation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 &amp; odometry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</p:txBody>
      </p:sp>
      <p:sp>
        <p:nvSpPr>
          <p:cNvPr id="24" name="Shape 19"/>
          <p:cNvSpPr/>
          <p:nvPr/>
        </p:nvSpPr>
        <p:spPr>
          <a:xfrm>
            <a:off x="5522976" y="1207008"/>
            <a:ext cx="1600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5522976" y="1207008"/>
            <a:ext cx="16002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6048756" y="1353312"/>
            <a:ext cx="548640" cy="5486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4476" y="1408176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577840" y="2011680"/>
            <a:ext cx="1490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Computer Vision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5614416" y="2596896"/>
            <a:ext cx="1417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object detection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re-identification &amp; tracking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Depth-camera obstacle perception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inference on Jetson GPU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</p:txBody>
      </p:sp>
      <p:sp>
        <p:nvSpPr>
          <p:cNvPr id="30" name="Shape 24"/>
          <p:cNvSpPr/>
          <p:nvPr/>
        </p:nvSpPr>
        <p:spPr>
          <a:xfrm>
            <a:off x="7287768" y="1207008"/>
            <a:ext cx="1600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7287768" y="1207008"/>
            <a:ext cx="16002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7813548" y="1353312"/>
            <a:ext cx="548640" cy="5486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9268" y="1408176"/>
            <a:ext cx="457200" cy="45720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342632" y="2011680"/>
            <a:ext cx="1490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&amp; Testing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7379208" y="2596896"/>
            <a:ext cx="1417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Isaac Sim 3D environment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Hardware-in-the-loop testing (HIL)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validation workflow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Sim-to-real transfer techniques</a:t>
            </a:r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FEA – Finite Element Analysis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COST ESTIMATE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3017520" cy="246888"/>
          </a:xfrm>
          <a:prstGeom prst="rect">
            <a:avLst/>
          </a:prstGeom>
          <a:solidFill>
            <a:srgbClr val="1C729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93192" y="749808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337560" y="749808"/>
            <a:ext cx="1645920" cy="246888"/>
          </a:xfrm>
          <a:prstGeom prst="rect">
            <a:avLst/>
          </a:prstGeom>
          <a:solidFill>
            <a:srgbClr val="1C729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10712" y="749808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983480" y="749808"/>
            <a:ext cx="457200" cy="246888"/>
          </a:xfrm>
          <a:prstGeom prst="rect">
            <a:avLst/>
          </a:prstGeom>
          <a:solidFill>
            <a:srgbClr val="1C729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56632" y="749808"/>
            <a:ext cx="365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40680" y="749808"/>
            <a:ext cx="1005840" cy="246888"/>
          </a:xfrm>
          <a:prstGeom prst="rect">
            <a:avLst/>
          </a:prstGeom>
          <a:solidFill>
            <a:srgbClr val="1C729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513832" y="749808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Cost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46520" y="749808"/>
            <a:ext cx="914400" cy="246888"/>
          </a:xfrm>
          <a:prstGeom prst="rect">
            <a:avLst/>
          </a:prstGeom>
          <a:solidFill>
            <a:srgbClr val="1C729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19672" y="749808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996696"/>
            <a:ext cx="3017520" cy="246888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93192" y="996696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Jetson Orin Nano (8GB)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37560" y="996696"/>
            <a:ext cx="1645920" cy="246888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10712" y="996696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83480" y="996696"/>
            <a:ext cx="457200" cy="246888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56632" y="996696"/>
            <a:ext cx="365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40680" y="996696"/>
            <a:ext cx="1005840" cy="246888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513832" y="996696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$249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46520" y="996696"/>
            <a:ext cx="914400" cy="246888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19672" y="996696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$249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1243584"/>
            <a:ext cx="3017520" cy="246888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93192" y="1243584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Teensy 4.1 Microcontroller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37560" y="1243584"/>
            <a:ext cx="1645920" cy="246888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10712" y="1243584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Control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983480" y="1243584"/>
            <a:ext cx="457200" cy="246888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56632" y="1243584"/>
            <a:ext cx="365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40680" y="1243584"/>
            <a:ext cx="1005840" cy="246888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513832" y="1243584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46520" y="1243584"/>
            <a:ext cx="914400" cy="246888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519672" y="1243584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1490472"/>
            <a:ext cx="3017520" cy="246888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93192" y="1490472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Bare Motors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337560" y="1490472"/>
            <a:ext cx="1645920" cy="246888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410712" y="1490472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Drivetrain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983480" y="1490472"/>
            <a:ext cx="457200" cy="246888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056632" y="1490472"/>
            <a:ext cx="365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40680" y="1490472"/>
            <a:ext cx="1005840" cy="246888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513832" y="1490472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$37.5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446520" y="1490472"/>
            <a:ext cx="914400" cy="246888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519672" y="1490472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0040" y="1737360"/>
            <a:ext cx="3017520" cy="246888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93192" y="1737360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Planetary Gearbox ( Aluminum CNC – Last Stage)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337560" y="1737360"/>
            <a:ext cx="1645920" cy="246888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410712" y="1737360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983480" y="1737360"/>
            <a:ext cx="457200" cy="246888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056632" y="1737360"/>
            <a:ext cx="365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440680" y="1737360"/>
            <a:ext cx="1005840" cy="246888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513832" y="1737360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446520" y="1737360"/>
            <a:ext cx="914400" cy="246888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6519672" y="1737360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20040" y="1984248"/>
            <a:ext cx="3017520" cy="246888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93192" y="1984248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Motor (Gear Selector)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337560" y="1984248"/>
            <a:ext cx="1645920" cy="246888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3410712" y="1984248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983480" y="1984248"/>
            <a:ext cx="457200" cy="246888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056632" y="1984248"/>
            <a:ext cx="365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440680" y="1984248"/>
            <a:ext cx="1005840" cy="246888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513832" y="1984248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446520" y="1984248"/>
            <a:ext cx="914400" cy="246888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519672" y="1984248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320040" y="2231136"/>
            <a:ext cx="3017520" cy="246888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93192" y="2231136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Drivers (Cyton MDD10A)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337560" y="2231136"/>
            <a:ext cx="1645920" cy="246888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3410712" y="2231136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Electronics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983480" y="2231136"/>
            <a:ext cx="457200" cy="246888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5056632" y="2231136"/>
            <a:ext cx="365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5440680" y="2231136"/>
            <a:ext cx="1005840" cy="246888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5513832" y="2231136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446520" y="2231136"/>
            <a:ext cx="914400" cy="246888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6519672" y="2231136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320040" y="2478024"/>
            <a:ext cx="3017520" cy="246888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393192" y="2478024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RealSense D435 Camera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3337560" y="2478024"/>
            <a:ext cx="1645920" cy="246888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3410712" y="2478024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4983480" y="2478024"/>
            <a:ext cx="457200" cy="246888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5056632" y="2478024"/>
            <a:ext cx="365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5440680" y="2478024"/>
            <a:ext cx="1005840" cy="246888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5513832" y="2478024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$399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6446520" y="2478024"/>
            <a:ext cx="914400" cy="246888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6519672" y="2478024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$399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320040" y="2724912"/>
            <a:ext cx="3017520" cy="246888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393192" y="2724912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RPLIDAR A1 (2D LiDAR)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3337560" y="2724912"/>
            <a:ext cx="1645920" cy="246888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3410712" y="2724912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4983480" y="2724912"/>
            <a:ext cx="457200" cy="246888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5056632" y="2724912"/>
            <a:ext cx="365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5440680" y="2724912"/>
            <a:ext cx="1005840" cy="246888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5513832" y="2724912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6446520" y="2724912"/>
            <a:ext cx="914400" cy="246888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6519672" y="2724912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320040" y="2971800"/>
            <a:ext cx="3017520" cy="246888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393192" y="2971800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(BNO055)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3337560" y="2971800"/>
            <a:ext cx="1645920" cy="246888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3410712" y="2971800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4983480" y="2971800"/>
            <a:ext cx="457200" cy="246888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5056632" y="2971800"/>
            <a:ext cx="365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5440680" y="2971800"/>
            <a:ext cx="1005840" cy="246888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5513832" y="2971800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6446520" y="2971800"/>
            <a:ext cx="914400" cy="246888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6519672" y="2971800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320040" y="3218688"/>
            <a:ext cx="3017520" cy="246888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393192" y="3218688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 Encoders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3337560" y="3218688"/>
            <a:ext cx="1645920" cy="246888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3410712" y="3218688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4983480" y="3218688"/>
            <a:ext cx="457200" cy="246888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5056632" y="3218688"/>
            <a:ext cx="365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5440680" y="3218688"/>
            <a:ext cx="1005840" cy="246888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5513832" y="3218688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446520" y="3218688"/>
            <a:ext cx="914400" cy="246888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/>
          <p:nvPr/>
        </p:nvSpPr>
        <p:spPr>
          <a:xfrm>
            <a:off x="6519672" y="3218688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320040" y="3465576"/>
            <a:ext cx="3017520" cy="246888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 114"/>
          <p:cNvSpPr/>
          <p:nvPr/>
        </p:nvSpPr>
        <p:spPr>
          <a:xfrm>
            <a:off x="393192" y="3465576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LiPo Battery Pack (22.2V 10Ah)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3337560" y="3465576"/>
            <a:ext cx="1645920" cy="246888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116"/>
          <p:cNvSpPr/>
          <p:nvPr/>
        </p:nvSpPr>
        <p:spPr>
          <a:xfrm>
            <a:off x="3410712" y="3465576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4983480" y="3465576"/>
            <a:ext cx="457200" cy="246888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118"/>
          <p:cNvSpPr/>
          <p:nvPr/>
        </p:nvSpPr>
        <p:spPr>
          <a:xfrm>
            <a:off x="5056632" y="3465576"/>
            <a:ext cx="365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5440680" y="3465576"/>
            <a:ext cx="1005840" cy="246888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120"/>
          <p:cNvSpPr/>
          <p:nvPr/>
        </p:nvSpPr>
        <p:spPr>
          <a:xfrm>
            <a:off x="5513832" y="3465576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6446520" y="3465576"/>
            <a:ext cx="914400" cy="246888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122"/>
          <p:cNvSpPr/>
          <p:nvPr/>
        </p:nvSpPr>
        <p:spPr>
          <a:xfrm>
            <a:off x="6519672" y="3465576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320040" y="3712464"/>
            <a:ext cx="3017520" cy="246888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124"/>
          <p:cNvSpPr/>
          <p:nvPr/>
        </p:nvSpPr>
        <p:spPr>
          <a:xfrm>
            <a:off x="393192" y="3712464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Management / BMS Board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3337560" y="3712464"/>
            <a:ext cx="1645920" cy="246888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126"/>
          <p:cNvSpPr/>
          <p:nvPr/>
        </p:nvSpPr>
        <p:spPr>
          <a:xfrm>
            <a:off x="3410712" y="3712464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4983480" y="3712464"/>
            <a:ext cx="457200" cy="246888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28"/>
          <p:cNvSpPr/>
          <p:nvPr/>
        </p:nvSpPr>
        <p:spPr>
          <a:xfrm>
            <a:off x="5056632" y="3712464"/>
            <a:ext cx="365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5440680" y="3712464"/>
            <a:ext cx="1005840" cy="246888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30"/>
          <p:cNvSpPr/>
          <p:nvPr/>
        </p:nvSpPr>
        <p:spPr>
          <a:xfrm>
            <a:off x="5513832" y="3712464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</a:t>
            </a:r>
            <a:endParaRPr lang="en-US" sz="900" dirty="0"/>
          </a:p>
        </p:txBody>
      </p:sp>
      <p:sp>
        <p:nvSpPr>
          <p:cNvPr id="133" name="Shape 131"/>
          <p:cNvSpPr/>
          <p:nvPr/>
        </p:nvSpPr>
        <p:spPr>
          <a:xfrm>
            <a:off x="6446520" y="3712464"/>
            <a:ext cx="914400" cy="246888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 132"/>
          <p:cNvSpPr/>
          <p:nvPr/>
        </p:nvSpPr>
        <p:spPr>
          <a:xfrm>
            <a:off x="6519672" y="3712464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320040" y="3959352"/>
            <a:ext cx="3017520" cy="246888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 134"/>
          <p:cNvSpPr/>
          <p:nvPr/>
        </p:nvSpPr>
        <p:spPr>
          <a:xfrm>
            <a:off x="393192" y="3959352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Chassis (Aluminum Frame Final Stage)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3337560" y="3959352"/>
            <a:ext cx="1645920" cy="246888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Text 136"/>
          <p:cNvSpPr/>
          <p:nvPr/>
        </p:nvSpPr>
        <p:spPr>
          <a:xfrm>
            <a:off x="3410712" y="3959352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900" dirty="0"/>
          </a:p>
        </p:txBody>
      </p:sp>
      <p:sp>
        <p:nvSpPr>
          <p:cNvPr id="139" name="Shape 137"/>
          <p:cNvSpPr/>
          <p:nvPr/>
        </p:nvSpPr>
        <p:spPr>
          <a:xfrm>
            <a:off x="4983480" y="3959352"/>
            <a:ext cx="457200" cy="246888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Text 138"/>
          <p:cNvSpPr/>
          <p:nvPr/>
        </p:nvSpPr>
        <p:spPr>
          <a:xfrm>
            <a:off x="5056632" y="3959352"/>
            <a:ext cx="365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5440680" y="3959352"/>
            <a:ext cx="1005840" cy="246888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 140"/>
          <p:cNvSpPr/>
          <p:nvPr/>
        </p:nvSpPr>
        <p:spPr>
          <a:xfrm>
            <a:off x="5513832" y="3959352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6446520" y="3959352"/>
            <a:ext cx="914400" cy="246888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Text 142"/>
          <p:cNvSpPr/>
          <p:nvPr/>
        </p:nvSpPr>
        <p:spPr>
          <a:xfrm>
            <a:off x="6519672" y="3959352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</a:t>
            </a:r>
            <a:endParaRPr lang="en-US" sz="900" dirty="0"/>
          </a:p>
        </p:txBody>
      </p:sp>
      <p:sp>
        <p:nvSpPr>
          <p:cNvPr id="145" name="Shape 143"/>
          <p:cNvSpPr/>
          <p:nvPr/>
        </p:nvSpPr>
        <p:spPr>
          <a:xfrm>
            <a:off x="320040" y="4206240"/>
            <a:ext cx="3017520" cy="246888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Text 144"/>
          <p:cNvSpPr/>
          <p:nvPr/>
        </p:nvSpPr>
        <p:spPr>
          <a:xfrm>
            <a:off x="393192" y="4206240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Wiring, Connectors, Misc. Hardware</a:t>
            </a:r>
            <a:endParaRPr lang="en-US" sz="900" dirty="0"/>
          </a:p>
        </p:txBody>
      </p:sp>
      <p:sp>
        <p:nvSpPr>
          <p:cNvPr id="147" name="Shape 145"/>
          <p:cNvSpPr/>
          <p:nvPr/>
        </p:nvSpPr>
        <p:spPr>
          <a:xfrm>
            <a:off x="3337560" y="4206240"/>
            <a:ext cx="1645920" cy="246888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Text 146"/>
          <p:cNvSpPr/>
          <p:nvPr/>
        </p:nvSpPr>
        <p:spPr>
          <a:xfrm>
            <a:off x="3410712" y="4206240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Misc.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4983480" y="4206240"/>
            <a:ext cx="457200" cy="246888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Text 148"/>
          <p:cNvSpPr/>
          <p:nvPr/>
        </p:nvSpPr>
        <p:spPr>
          <a:xfrm>
            <a:off x="5056632" y="4206240"/>
            <a:ext cx="365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51" name="Shape 149"/>
          <p:cNvSpPr/>
          <p:nvPr/>
        </p:nvSpPr>
        <p:spPr>
          <a:xfrm>
            <a:off x="5440680" y="4206240"/>
            <a:ext cx="1005840" cy="246888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Text 150"/>
          <p:cNvSpPr/>
          <p:nvPr/>
        </p:nvSpPr>
        <p:spPr>
          <a:xfrm>
            <a:off x="5513832" y="4206240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53" name="Shape 151"/>
          <p:cNvSpPr/>
          <p:nvPr/>
        </p:nvSpPr>
        <p:spPr>
          <a:xfrm>
            <a:off x="6446520" y="4206240"/>
            <a:ext cx="914400" cy="246888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Text 152"/>
          <p:cNvSpPr/>
          <p:nvPr/>
        </p:nvSpPr>
        <p:spPr>
          <a:xfrm>
            <a:off x="6519672" y="4206240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320040" y="4544568"/>
            <a:ext cx="713232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Text 154"/>
          <p:cNvSpPr/>
          <p:nvPr/>
        </p:nvSpPr>
        <p:spPr>
          <a:xfrm>
            <a:off x="457200" y="454456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ESTIMATED COST</a:t>
            </a:r>
            <a:endParaRPr lang="en-US" sz="1300" dirty="0"/>
          </a:p>
        </p:txBody>
      </p:sp>
      <p:sp>
        <p:nvSpPr>
          <p:cNvPr id="157" name="Text 155"/>
          <p:cNvSpPr/>
          <p:nvPr/>
        </p:nvSpPr>
        <p:spPr>
          <a:xfrm>
            <a:off x="5623560" y="4544568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$1,621</a:t>
            </a:r>
            <a:endParaRPr lang="en-US" sz="1600" dirty="0"/>
          </a:p>
        </p:txBody>
      </p:sp>
      <p:sp>
        <p:nvSpPr>
          <p:cNvPr id="158" name="Text 156"/>
          <p:cNvSpPr/>
          <p:nvPr/>
        </p:nvSpPr>
        <p:spPr>
          <a:xfrm>
            <a:off x="320040" y="502005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Prices are approximate. Shipping not included. Software tools (ROS 2, Isaac Sim) are free / open-source.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 (16 Weeks)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66344" y="74980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12280" y="74980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Deliverables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450592" y="749808"/>
            <a:ext cx="53378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984373" y="749808"/>
            <a:ext cx="53378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518154" y="749808"/>
            <a:ext cx="53378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051935" y="749808"/>
            <a:ext cx="53378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85716" y="749808"/>
            <a:ext cx="53378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119497" y="749808"/>
            <a:ext cx="53378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653278" y="749808"/>
            <a:ext cx="53378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W13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187059" y="749808"/>
            <a:ext cx="53378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W15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0" y="1042416"/>
            <a:ext cx="9144000" cy="429768"/>
          </a:xfrm>
          <a:prstGeom prst="rect">
            <a:avLst/>
          </a:prstGeom>
          <a:solidFill>
            <a:srgbClr val="E8F2F8"/>
          </a:solidFill>
          <a:ln w="12700">
            <a:solidFill>
              <a:srgbClr val="E8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" y="1115568"/>
            <a:ext cx="365760" cy="2834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" y="1115568"/>
            <a:ext cx="3657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2064" y="1042416"/>
            <a:ext cx="1874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Procurement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50592" y="1133856"/>
            <a:ext cx="4270248" cy="246888"/>
          </a:xfrm>
          <a:prstGeom prst="rect">
            <a:avLst/>
          </a:prstGeom>
          <a:solidFill>
            <a:srgbClr val="D0E4EF"/>
          </a:solidFill>
          <a:ln w="12700">
            <a:solidFill>
              <a:srgbClr val="D0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450592" y="1097280"/>
            <a:ext cx="533781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12280" y="1042416"/>
            <a:ext cx="2194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· BOM · Component ordering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0" y="1527048"/>
            <a:ext cx="9144000" cy="429768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" y="1600200"/>
            <a:ext cx="365760" cy="2834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" y="1600200"/>
            <a:ext cx="3657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2064" y="1527048"/>
            <a:ext cx="1874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Assembly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450592" y="1618488"/>
            <a:ext cx="4270248" cy="246888"/>
          </a:xfrm>
          <a:prstGeom prst="rect">
            <a:avLst/>
          </a:prstGeom>
          <a:solidFill>
            <a:srgbClr val="D0E4EF"/>
          </a:solidFill>
          <a:ln w="12700">
            <a:solidFill>
              <a:srgbClr val="D0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984373" y="1581912"/>
            <a:ext cx="800672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020949" y="1581912"/>
            <a:ext cx="72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W3–W5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812280" y="1527048"/>
            <a:ext cx="2194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Chassis · Gearbox · Mecanum wheel mount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0" y="2011680"/>
            <a:ext cx="9144000" cy="429768"/>
          </a:xfrm>
          <a:prstGeom prst="rect">
            <a:avLst/>
          </a:prstGeom>
          <a:solidFill>
            <a:srgbClr val="E8F2F8"/>
          </a:solidFill>
          <a:ln w="12700">
            <a:solidFill>
              <a:srgbClr val="E8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4864" y="2084832"/>
            <a:ext cx="365760" cy="283464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864" y="2084832"/>
            <a:ext cx="3657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12064" y="2011680"/>
            <a:ext cx="1874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Hardware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450592" y="2103120"/>
            <a:ext cx="4270248" cy="246888"/>
          </a:xfrm>
          <a:prstGeom prst="rect">
            <a:avLst/>
          </a:prstGeom>
          <a:solidFill>
            <a:srgbClr val="D0E4EF"/>
          </a:solidFill>
          <a:ln w="12700">
            <a:solidFill>
              <a:srgbClr val="D0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785045" y="2066544"/>
            <a:ext cx="533781" cy="32004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812280" y="2011680"/>
            <a:ext cx="2194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drivers · Encoders · Teensy firmware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0" y="2496312"/>
            <a:ext cx="9144000" cy="429768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4864" y="2569464"/>
            <a:ext cx="365760" cy="2834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4864" y="2569464"/>
            <a:ext cx="3657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12064" y="2496312"/>
            <a:ext cx="1874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Control &amp; Comms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450592" y="2587752"/>
            <a:ext cx="4270248" cy="246888"/>
          </a:xfrm>
          <a:prstGeom prst="rect">
            <a:avLst/>
          </a:prstGeom>
          <a:solidFill>
            <a:srgbClr val="D0E4EF"/>
          </a:solidFill>
          <a:ln w="12700">
            <a:solidFill>
              <a:srgbClr val="D0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318826" y="2551176"/>
            <a:ext cx="533781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812280" y="2496312"/>
            <a:ext cx="2194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tuning · CAN bridge · Kinematics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0" y="2980944"/>
            <a:ext cx="9144000" cy="429768"/>
          </a:xfrm>
          <a:prstGeom prst="rect">
            <a:avLst/>
          </a:prstGeom>
          <a:solidFill>
            <a:srgbClr val="E8F2F8"/>
          </a:solidFill>
          <a:ln w="12700">
            <a:solidFill>
              <a:srgbClr val="E8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4864" y="3054096"/>
            <a:ext cx="365760" cy="283464"/>
          </a:xfrm>
          <a:prstGeom prst="rect">
            <a:avLst/>
          </a:prstGeom>
          <a:solidFill>
            <a:srgbClr val="05A876"/>
          </a:solidFill>
          <a:ln w="12700">
            <a:solidFill>
              <a:srgbClr val="05A8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4864" y="3054096"/>
            <a:ext cx="3657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12064" y="2980944"/>
            <a:ext cx="1874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Stack (ROS 2)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450592" y="3072384"/>
            <a:ext cx="4270248" cy="246888"/>
          </a:xfrm>
          <a:prstGeom prst="rect">
            <a:avLst/>
          </a:prstGeom>
          <a:solidFill>
            <a:srgbClr val="D0E4EF"/>
          </a:solidFill>
          <a:ln w="12700">
            <a:solidFill>
              <a:srgbClr val="D0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852607" y="3035808"/>
            <a:ext cx="533781" cy="320040"/>
          </a:xfrm>
          <a:prstGeom prst="rect">
            <a:avLst/>
          </a:prstGeom>
          <a:solidFill>
            <a:srgbClr val="05A876"/>
          </a:solidFill>
          <a:ln w="12700">
            <a:solidFill>
              <a:srgbClr val="05A8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812280" y="2980944"/>
            <a:ext cx="2194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SLAM · Nav2 navigation · Sensor fusion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0" y="3465576"/>
            <a:ext cx="9144000" cy="429768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54864" y="3538728"/>
            <a:ext cx="365760" cy="283464"/>
          </a:xfrm>
          <a:prstGeom prst="rect">
            <a:avLst/>
          </a:prstGeom>
          <a:solidFill>
            <a:srgbClr val="0E7B8C"/>
          </a:solidFill>
          <a:ln w="12700">
            <a:solidFill>
              <a:srgbClr val="0E7B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4864" y="3538728"/>
            <a:ext cx="3657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12064" y="3465576"/>
            <a:ext cx="1874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Perception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450592" y="3557016"/>
            <a:ext cx="4270248" cy="246888"/>
          </a:xfrm>
          <a:prstGeom prst="rect">
            <a:avLst/>
          </a:prstGeom>
          <a:solidFill>
            <a:srgbClr val="D0E4EF"/>
          </a:solidFill>
          <a:ln w="12700">
            <a:solidFill>
              <a:srgbClr val="D0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5386388" y="3520440"/>
            <a:ext cx="533781" cy="320040"/>
          </a:xfrm>
          <a:prstGeom prst="rect">
            <a:avLst/>
          </a:prstGeom>
          <a:solidFill>
            <a:srgbClr val="0E7B8C"/>
          </a:solidFill>
          <a:ln w="12700">
            <a:solidFill>
              <a:srgbClr val="0E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812280" y="3465576"/>
            <a:ext cx="2194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· Person following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0" y="3950208"/>
            <a:ext cx="9144000" cy="429768"/>
          </a:xfrm>
          <a:prstGeom prst="rect">
            <a:avLst/>
          </a:prstGeom>
          <a:solidFill>
            <a:srgbClr val="E8F2F8"/>
          </a:solidFill>
          <a:ln w="12700">
            <a:solidFill>
              <a:srgbClr val="E8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54864" y="4023360"/>
            <a:ext cx="365760" cy="283464"/>
          </a:xfrm>
          <a:prstGeom prst="rect">
            <a:avLst/>
          </a:prstGeom>
          <a:solidFill>
            <a:srgbClr val="0B5E78"/>
          </a:solidFill>
          <a:ln w="12700">
            <a:solidFill>
              <a:srgbClr val="0B5E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4864" y="4023360"/>
            <a:ext cx="3657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12064" y="3950208"/>
            <a:ext cx="1874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(Isaac Sim)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2450592" y="4041648"/>
            <a:ext cx="4270248" cy="246888"/>
          </a:xfrm>
          <a:prstGeom prst="rect">
            <a:avLst/>
          </a:prstGeom>
          <a:solidFill>
            <a:srgbClr val="D0E4EF"/>
          </a:solidFill>
          <a:ln w="12700">
            <a:solidFill>
              <a:srgbClr val="D0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5920169" y="4005072"/>
            <a:ext cx="533781" cy="320040"/>
          </a:xfrm>
          <a:prstGeom prst="rect">
            <a:avLst/>
          </a:prstGeom>
          <a:solidFill>
            <a:srgbClr val="0B5E78"/>
          </a:solidFill>
          <a:ln w="12700">
            <a:solidFill>
              <a:srgbClr val="0B5E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812280" y="3950208"/>
            <a:ext cx="2194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Sim setup · HIL · Sim-to-real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0" y="4434840"/>
            <a:ext cx="9144000" cy="429768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54864" y="4507992"/>
            <a:ext cx="365760" cy="283464"/>
          </a:xfrm>
          <a:prstGeom prst="rect">
            <a:avLst/>
          </a:prstGeom>
          <a:solidFill>
            <a:srgbClr val="0A3D5C"/>
          </a:solidFill>
          <a:ln w="12700">
            <a:solidFill>
              <a:srgbClr val="0A3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54864" y="4507992"/>
            <a:ext cx="3657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12064" y="4434840"/>
            <a:ext cx="1874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Demo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450592" y="4526280"/>
            <a:ext cx="4270248" cy="246888"/>
          </a:xfrm>
          <a:prstGeom prst="rect">
            <a:avLst/>
          </a:prstGeom>
          <a:solidFill>
            <a:srgbClr val="D0E4EF"/>
          </a:solidFill>
          <a:ln w="12700">
            <a:solidFill>
              <a:srgbClr val="D0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6453950" y="4489704"/>
            <a:ext cx="266891" cy="320040"/>
          </a:xfrm>
          <a:prstGeom prst="rect">
            <a:avLst/>
          </a:prstGeom>
          <a:solidFill>
            <a:srgbClr val="0A3D5C"/>
          </a:solidFill>
          <a:ln w="12700">
            <a:solidFill>
              <a:srgbClr val="0A3D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6812280" y="4434840"/>
            <a:ext cx="2194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test · Docs · Final demo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6647688" y="4343400"/>
            <a:ext cx="54864" cy="6126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6217920" y="41422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Demo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7162</TotalTime>
  <Words>707</Words>
  <Application>Microsoft Macintosh PowerPoint</Application>
  <PresentationFormat>On-screen Show (16:9)</PresentationFormat>
  <Paragraphs>193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Mecanum Robot Platform</dc:title>
  <dc:subject>PptxGenJS Presentation</dc:subject>
  <dc:creator>PptxGenJS</dc:creator>
  <cp:lastModifiedBy>Gupta, Daksh</cp:lastModifiedBy>
  <cp:revision>3</cp:revision>
  <dcterms:created xsi:type="dcterms:W3CDTF">2026-03-24T05:55:29Z</dcterms:created>
  <dcterms:modified xsi:type="dcterms:W3CDTF">2026-04-21T18:31:23Z</dcterms:modified>
</cp:coreProperties>
</file>