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42"/>
    <p:restoredTop sz="94610"/>
  </p:normalViewPr>
  <p:slideViewPr>
    <p:cSldViewPr snapToGrid="0" snapToObjects="1">
      <p:cViewPr varScale="1">
        <p:scale>
          <a:sx n="244" d="100"/>
          <a:sy n="244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872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Our Own</a:t>
            </a:r>
            <a:endParaRPr lang="en-US" sz="2000" dirty="0"/>
          </a:p>
          <a:p>
            <a:pPr marL="0" indent="0" algn="l">
              <a:buNone/>
            </a:pPr>
            <a:r>
              <a:rPr lang="en-US" sz="2000" i="1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Tesla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Mecanum Drive Robot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401568"/>
            <a:ext cx="5029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3566160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Mecanum Drive Train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4005072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005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Stack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4443984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443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Generation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3566160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3566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4005072"/>
            <a:ext cx="374904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4005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83064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Project Proposal  |  Virginia Tech</a:t>
            </a:r>
            <a:endParaRPr lang="en-US" sz="10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498080" y="502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omnidirectional mecanum-drive robot — our own in-house Mini Tesla.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8379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gearbox with adaptive gear shifting for incline traversal.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323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shock absorbers &amp; hydraulic brakes from scratch for real terrain.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08152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AI: object detection, human following &amp; AEB emergency braking.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67588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6210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WiFi/Bluetooth remote control with full ROS 2 autonomous stack.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27024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2153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via NVIDIA Isaac Sim digital twin before hardware deployment.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804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1261872"/>
            <a:ext cx="1143000" cy="384048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1261872"/>
            <a:ext cx="11430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Scan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755648"/>
            <a:ext cx="1143000" cy="384048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1755648"/>
            <a:ext cx="11430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Camera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249424"/>
            <a:ext cx="1143000" cy="384048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2249424"/>
            <a:ext cx="11430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43200"/>
            <a:ext cx="1143000" cy="384048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743200"/>
            <a:ext cx="11430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WiFi/BT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1453896"/>
            <a:ext cx="228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52160" y="1947672"/>
            <a:ext cx="228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52160" y="2441448"/>
            <a:ext cx="228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52160" y="2935224"/>
            <a:ext cx="228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1261872"/>
            <a:ext cx="1417320" cy="1865376"/>
          </a:xfrm>
          <a:prstGeom prst="rect">
            <a:avLst/>
          </a:prstGeom>
          <a:solidFill>
            <a:srgbClr val="0D1B2A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1261872"/>
            <a:ext cx="1417320" cy="18653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Orin Nano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| AI | Nav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93992" y="3127248"/>
            <a:ext cx="0" cy="2743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0760" y="3401568"/>
            <a:ext cx="1417320" cy="411480"/>
          </a:xfrm>
          <a:prstGeom prst="rect">
            <a:avLst/>
          </a:prstGeom>
          <a:solidFill>
            <a:srgbClr val="213A5E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3401568"/>
            <a:ext cx="14173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93992" y="3813048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166360" y="4041648"/>
            <a:ext cx="2926080" cy="411480"/>
          </a:xfrm>
          <a:prstGeom prst="rect">
            <a:avLst/>
          </a:prstGeom>
          <a:solidFill>
            <a:srgbClr val="02C39A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66360" y="4041648"/>
            <a:ext cx="29260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Mecanum + Gearbox + Hydraulic Brakes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89520" y="1755648"/>
            <a:ext cx="777240" cy="777240"/>
          </a:xfrm>
          <a:prstGeom prst="rect">
            <a:avLst/>
          </a:prstGeom>
          <a:solidFill>
            <a:srgbClr val="28547A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89520" y="1755648"/>
            <a:ext cx="7772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98080" y="2148840"/>
            <a:ext cx="91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0" y="162763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58952"/>
            <a:ext cx="20574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58952"/>
            <a:ext cx="2057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88696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923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868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 Drive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14173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4-wheel mecanum drive — forward, lateral, diagonal, rotation, all without turning.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23160" y="758952"/>
            <a:ext cx="20574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23160" y="758952"/>
            <a:ext cx="2057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60320" y="88696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92354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63240" y="868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Perception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14600" y="14173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detection, human following &amp; AEB emergency braking via RealSense + Jetson.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72000" y="758952"/>
            <a:ext cx="20574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0" y="758952"/>
            <a:ext cx="2057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09160" y="88696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92354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868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Gearbox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663440" y="14173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built 2-ratio transmission with servo-actuated selector for incline torque.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720840" y="758952"/>
            <a:ext cx="20574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720840" y="758952"/>
            <a:ext cx="2057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858000" y="88696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92354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868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Regeneration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812280" y="141732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Free-wheel motor-as-generator mode redirects kinetic energy back to LiPo battery.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1348740" y="2459736"/>
            <a:ext cx="20574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348740" y="2459736"/>
            <a:ext cx="2057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485900" y="2587752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2476" y="2624328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988820" y="256946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440180" y="3118104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+ Nav2 path planning with LiDAR localization and dynamic obstacle avoidance.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3497580" y="2459736"/>
            <a:ext cx="20574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3497580" y="2459736"/>
            <a:ext cx="2057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3634740" y="2587752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1316" y="2624328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137660" y="256946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3589020" y="3118104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&amp; Bluetooth control mode alongside full autonomous stack for manual override.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5646420" y="2459736"/>
            <a:ext cx="20574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5646420" y="2459736"/>
            <a:ext cx="2057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5783580" y="2587752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0156" y="2624328"/>
            <a:ext cx="347472" cy="34747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286500" y="256946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(Isaac Sim)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5737860" y="3118104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HIL simulation — validate code in Isaac Sim before touching real hardware.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this project develops expertise across six high-demand engineering disciplines: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13533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43000"/>
            <a:ext cx="1353312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6656" y="125272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075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18745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9184" y="2441448"/>
            <a:ext cx="1207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Real-time control via Teensy 4.1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PWM motor driving &amp; encoder feedback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PID velocity loop tuning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 / serial communication protocols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737360" y="1143000"/>
            <a:ext cx="13533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737360" y="1143000"/>
            <a:ext cx="1353312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57984" y="125272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130759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83080" y="18745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810512" y="2441448"/>
            <a:ext cx="1207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 gearbox design &amp; fabrication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Shock absorber spring-damper physics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Hydraulic brake circuit from scratch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 – Finite Element Analysis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218688" y="1143000"/>
            <a:ext cx="13533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218688" y="1143000"/>
            <a:ext cx="1353312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39312" y="125272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130759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64408" y="18745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Software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291840" y="2441448"/>
            <a:ext cx="1207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Node-based modular architecture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SLAM mapping &amp; localization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Nav2 autonomous navigation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Sensor fusion &amp; odometry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700016" y="1143000"/>
            <a:ext cx="13533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00016" y="1143000"/>
            <a:ext cx="1353312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20640" y="125272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130759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45736" y="18745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773168" y="2441448"/>
            <a:ext cx="1207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Neural network object detection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AEB depth threshold pipeline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 re-identification &amp; following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Edge inference on Jetson GPU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6181344" y="1143000"/>
            <a:ext cx="13533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6181344" y="1143000"/>
            <a:ext cx="1353312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601968" y="125272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1307592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227064" y="18745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Testing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6254496" y="2441448"/>
            <a:ext cx="1207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NVIDIA Isaac Sim 3D setup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Hardware-in-the-loop (HIL)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Digital twin validation workflow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Sim-to-real transfer techniques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7662672" y="1143000"/>
            <a:ext cx="13533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7662672" y="1143000"/>
            <a:ext cx="1353312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8083296" y="125272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1307592"/>
            <a:ext cx="402336" cy="40233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708392" y="187452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Comms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735824" y="2441448"/>
            <a:ext cx="1207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Bluetooth remote control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Autonomous ↔ manual mode switching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ROS 2 teleop integration</a:t>
            </a:r>
            <a:endParaRPr lang="en-US" sz="800" dirty="0"/>
          </a:p>
          <a:p>
            <a:pPr>
              <a:buSzPct val="100000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Emergency stop &amp; failsafe logic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COST ESTIMATE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926080" cy="233172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49808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749808"/>
            <a:ext cx="1463040" cy="233172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0128" y="749808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57200" cy="233172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3168" y="749808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66360" y="749808"/>
            <a:ext cx="914400" cy="233172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30368" y="749808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749808"/>
            <a:ext cx="914400" cy="233172"/>
          </a:xfrm>
          <a:prstGeom prst="rect">
            <a:avLst/>
          </a:prstGeom>
          <a:solidFill>
            <a:srgbClr val="1C729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44768" y="749808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982980"/>
            <a:ext cx="292608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982980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Orin Nano Super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982980"/>
            <a:ext cx="146304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982980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982980"/>
            <a:ext cx="4572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982980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66360" y="982980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30368" y="982980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0760" y="982980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44768" y="982980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1216152"/>
            <a:ext cx="292608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1216152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 Microcontroller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1216152"/>
            <a:ext cx="146304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0128" y="1216152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1216152"/>
            <a:ext cx="4572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1216152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66360" y="1216152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30368" y="1216152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80760" y="1216152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44768" y="1216152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1449324"/>
            <a:ext cx="292608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" y="1449324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Pololu 37D Bare DC Motor (24V, Encoder)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46120" y="1449324"/>
            <a:ext cx="146304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10128" y="1449324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Drivetrain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1449324"/>
            <a:ext cx="4572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73168" y="1449324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66360" y="1449324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30368" y="1449324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$37.50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0760" y="1449324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44768" y="1449324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1682496"/>
            <a:ext cx="292608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84048" y="1682496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CNC Gearbox (Aluminum, 2-ratio)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46120" y="1682496"/>
            <a:ext cx="146304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10128" y="1682496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1682496"/>
            <a:ext cx="4572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73168" y="1682496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66360" y="1682496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230368" y="1682496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80760" y="1682496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144768" y="1682496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1915668"/>
            <a:ext cx="292608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4048" y="1915668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(Gear Selector)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46120" y="1915668"/>
            <a:ext cx="146304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310128" y="1915668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09160" y="1915668"/>
            <a:ext cx="4572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73168" y="1915668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166360" y="1915668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230368" y="1915668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80760" y="1915668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144768" y="1915668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2148840"/>
            <a:ext cx="292608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84048" y="2148840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Cytron MDD10A Dual Motor Driver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46120" y="2148840"/>
            <a:ext cx="146304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310128" y="2148840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Elec.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09160" y="2148840"/>
            <a:ext cx="4572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773168" y="2148840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166360" y="2148840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230368" y="2148840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080760" y="2148840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144768" y="2148840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20040" y="2382012"/>
            <a:ext cx="292608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84048" y="2382012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RealSense D435 Camera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246120" y="2382012"/>
            <a:ext cx="146304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310128" y="2382012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09160" y="2382012"/>
            <a:ext cx="4572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773168" y="2382012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166360" y="2382012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230368" y="2382012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080760" y="2382012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144768" y="2382012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20040" y="2615184"/>
            <a:ext cx="292608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84048" y="2615184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RPLIDAR A1 (2D LiDAR)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246120" y="2615184"/>
            <a:ext cx="146304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310128" y="2615184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709160" y="2615184"/>
            <a:ext cx="4572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773168" y="2615184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166360" y="2615184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230368" y="2615184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080760" y="2615184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144768" y="2615184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20040" y="2848356"/>
            <a:ext cx="292608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84048" y="2848356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(BNO055)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246120" y="2848356"/>
            <a:ext cx="146304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310128" y="2848356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709160" y="2848356"/>
            <a:ext cx="4572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773168" y="2848356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166360" y="2848356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230368" y="2848356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080760" y="2848356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144768" y="2848356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20040" y="3081528"/>
            <a:ext cx="292608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84048" y="3081528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/ Bluetooth Module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246120" y="3081528"/>
            <a:ext cx="146304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310128" y="3081528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709160" y="3081528"/>
            <a:ext cx="4572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773168" y="3081528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166360" y="3081528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230368" y="3081528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080760" y="3081528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144768" y="3081528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20040" y="3314700"/>
            <a:ext cx="292608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84048" y="3314700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 Pack (22.2V 10Ah)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3246120" y="3314700"/>
            <a:ext cx="146304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310128" y="3314700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709160" y="3314700"/>
            <a:ext cx="4572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4773168" y="3314700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5166360" y="3314700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5230368" y="3314700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6080760" y="3314700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144768" y="3314700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320040" y="3547872"/>
            <a:ext cx="292608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384048" y="3547872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 / BMS Board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3246120" y="3547872"/>
            <a:ext cx="146304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3310128" y="3547872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709160" y="3547872"/>
            <a:ext cx="4572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4773168" y="3547872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166360" y="3547872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5230368" y="3547872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6080760" y="3547872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6144768" y="3547872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320040" y="3781044"/>
            <a:ext cx="292608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384048" y="3781044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Chassis (Aluminum Frame)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3246120" y="3781044"/>
            <a:ext cx="146304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3310128" y="3781044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4709160" y="3781044"/>
            <a:ext cx="4572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4773168" y="3781044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5166360" y="3781044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5230368" y="3781044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6080760" y="3781044"/>
            <a:ext cx="914400" cy="233172"/>
          </a:xfrm>
          <a:prstGeom prst="rect">
            <a:avLst/>
          </a:prstGeom>
          <a:solidFill>
            <a:srgbClr val="0E1E30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144768" y="3781044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320040" y="4014216"/>
            <a:ext cx="292608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384048" y="4014216"/>
            <a:ext cx="28346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Connectors, Misc.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3246120" y="4014216"/>
            <a:ext cx="146304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3310128" y="4014216"/>
            <a:ext cx="13716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Misc.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4709160" y="4014216"/>
            <a:ext cx="4572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4773168" y="4014216"/>
            <a:ext cx="3657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5166360" y="4014216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5230368" y="4014216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6080760" y="4014216"/>
            <a:ext cx="914400" cy="233172"/>
          </a:xfrm>
          <a:prstGeom prst="rect">
            <a:avLst/>
          </a:prstGeom>
          <a:solidFill>
            <a:srgbClr val="112233"/>
          </a:solidFill>
          <a:ln w="635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6144768" y="4014216"/>
            <a:ext cx="82296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320040" y="4320540"/>
            <a:ext cx="66751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457200" y="43205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COST</a:t>
            </a:r>
            <a:endParaRPr lang="en-US" sz="1200" dirty="0"/>
          </a:p>
        </p:txBody>
      </p:sp>
      <p:sp>
        <p:nvSpPr>
          <p:cNvPr id="157" name="Text 155"/>
          <p:cNvSpPr/>
          <p:nvPr/>
        </p:nvSpPr>
        <p:spPr>
          <a:xfrm>
            <a:off x="5166360" y="43205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~$1,758</a:t>
            </a:r>
            <a:endParaRPr lang="en-US" sz="1500" dirty="0"/>
          </a:p>
        </p:txBody>
      </p:sp>
      <p:sp>
        <p:nvSpPr>
          <p:cNvPr id="158" name="Text 156"/>
          <p:cNvSpPr/>
          <p:nvPr/>
        </p:nvSpPr>
        <p:spPr>
          <a:xfrm>
            <a:off x="320040" y="47594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Custom gearbox cost is estimated for materials. ROS 2 and NVIDIA Isaac Sim are free / open-source.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 —  Spring · Summer · Fall 2026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" y="713232"/>
            <a:ext cx="2944368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" y="713232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" y="932688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→  May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63824" y="713232"/>
            <a:ext cx="294436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63824" y="713232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63824" y="932688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26  →  July 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36208" y="713232"/>
            <a:ext cx="2944368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36208" y="713232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36208" y="932688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24  →  Dec 16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8016" y="1261872"/>
            <a:ext cx="2834640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8016" y="1261872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744" y="126187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— Motors, MCU, Sensors, Battery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8016" y="1645920"/>
            <a:ext cx="2834640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8016" y="1645920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744" y="1645920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Design — Chassis, Gearbox, Brakes, Shockers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8016" y="2029968"/>
            <a:ext cx="2834640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8016" y="2029968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7744" y="202996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Analysis — Structural validation of components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28016" y="2414016"/>
            <a:ext cx="2834640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8016" y="2414016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37744" y="241401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receive all hardware components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18688" y="1261872"/>
            <a:ext cx="28346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18688" y="1261872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28416" y="126187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 / CNC — Manufacture custom parts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18688" y="1645920"/>
            <a:ext cx="28346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18688" y="1645920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8416" y="1645920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Mechanical Assembly — Chassis + all systems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18688" y="2029968"/>
            <a:ext cx="28346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18688" y="2029968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28416" y="202996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— MCU, LiDAR, IMU, AI PC, BT/WiFi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18688" y="2414016"/>
            <a:ext cx="28346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18688" y="2414016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28416" y="241401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Firmware — Motor control, PID, encoders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18688" y="2798064"/>
            <a:ext cx="28346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18688" y="2798064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28416" y="2798064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Power regen, gearbox, brakes, remote ctrl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18688" y="3182112"/>
            <a:ext cx="28346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18688" y="3182112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28416" y="318211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— Full scale simulation &amp; basic SLAM test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91072" y="1261872"/>
            <a:ext cx="2834640" cy="329184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91072" y="1261872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0" y="126187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Integration — RealSense + SLAM depth layer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91072" y="1645920"/>
            <a:ext cx="2834640" cy="329184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91072" y="1645920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00800" y="1645920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— YOLO object detection, person following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91072" y="2029968"/>
            <a:ext cx="2834640" cy="329184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91072" y="2029968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00800" y="2029968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Depth threshold emergency braking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91072" y="2414016"/>
            <a:ext cx="2834640" cy="329184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91072" y="2414016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0" y="2414016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ROS 2 Stack — Nav2 + sensor fusion on hardware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91072" y="2798064"/>
            <a:ext cx="2834640" cy="329184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291072" y="2798064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00800" y="2798064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— All subsystems working together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91072" y="3182112"/>
            <a:ext cx="2834640" cy="329184"/>
          </a:xfrm>
          <a:prstGeom prst="rect">
            <a:avLst/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291072" y="3182112"/>
            <a:ext cx="5486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00800" y="3182112"/>
            <a:ext cx="2706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— Full autonomous run &amp; documentation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 rot="2700000">
            <a:off x="1344168" y="3657600"/>
            <a:ext cx="402336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344168" y="3657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28016" y="41239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#1 — May 13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28016" y="436168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physical · Wheels mounted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Brakes CAD · Shockers CAD · Gearbox CAD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 rot="2700000">
            <a:off x="4434840" y="3657600"/>
            <a:ext cx="402336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434840" y="3657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218688" y="41239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#2 — June 13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218688" y="436168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assembly complete · All wiring done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tested · Brakes tested · Remote control · Simulation Testing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 rot="2700000">
            <a:off x="7507224" y="3657600"/>
            <a:ext cx="402336" cy="4023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507224" y="3657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291072" y="41239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#3 — Dec 16  ★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291072" y="436168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integrated · AI models running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stack on hardware · Final demo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 flipV="1">
            <a:off x="2726218" y="3865299"/>
            <a:ext cx="472875" cy="1306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938375" y="3865299"/>
            <a:ext cx="462425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135624" y="3520440"/>
            <a:ext cx="100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883</Words>
  <Application>Microsoft Macintosh PowerPoint</Application>
  <PresentationFormat>On-screen Show (16:9)</PresentationFormat>
  <Paragraphs>204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Tesla — Mecanum Robot Proposal</dc:title>
  <dc:subject>PptxGenJS Presentation</dc:subject>
  <dc:creator>PptxGenJS</dc:creator>
  <cp:lastModifiedBy>Gupta, Daksh</cp:lastModifiedBy>
  <cp:revision>2</cp:revision>
  <dcterms:created xsi:type="dcterms:W3CDTF">2026-04-21T18:36:53Z</dcterms:created>
  <dcterms:modified xsi:type="dcterms:W3CDTF">2026-04-21T18:45:35Z</dcterms:modified>
</cp:coreProperties>
</file>